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797675" cy="9926625"/>
  <p:embeddedFontLst>
    <p:embeddedFont>
      <p:font typeface="Arial Black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jwx/XwY4KOJElBRK/W2WGdvoFn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438C82D-D014-4FBB-94E1-C4F7EDEC0CBB}">
  <a:tblStyle styleId="{2438C82D-D014-4FBB-94E1-C4F7EDEC0CB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4E8E8"/>
          </a:solidFill>
        </a:fill>
      </a:tcStyle>
    </a:wholeTbl>
    <a:band1H>
      <a:tcTxStyle/>
      <a:tcStyle>
        <a:fill>
          <a:solidFill>
            <a:srgbClr val="E8CFCF"/>
          </a:solidFill>
        </a:fill>
      </a:tcStyle>
    </a:band1H>
    <a:band2H>
      <a:tcTxStyle/>
    </a:band2H>
    <a:band1V>
      <a:tcTxStyle/>
      <a:tcStyle>
        <a:fill>
          <a:solidFill>
            <a:srgbClr val="E8CFC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2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2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2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2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ArialBlack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50443" y="0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cs-CZ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Úvodní snímek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dpis a obsah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ázdný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áhlaví části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va obsahy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" type="body"/>
          </p:nvPr>
        </p:nvSpPr>
        <p:spPr>
          <a:xfrm>
            <a:off x="457200" y="900113"/>
            <a:ext cx="4038600" cy="2545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6"/>
          <p:cNvSpPr txBox="1"/>
          <p:nvPr>
            <p:ph idx="2" type="body"/>
          </p:nvPr>
        </p:nvSpPr>
        <p:spPr>
          <a:xfrm>
            <a:off x="4648200" y="900113"/>
            <a:ext cx="4038600" cy="2545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ovnání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7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7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7"/>
          <p:cNvSpPr txBox="1"/>
          <p:nvPr>
            <p:ph idx="4" type="body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uze nadpis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8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sah s titulkem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9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rázek s titulkem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0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dpis a svislý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" type="body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vislý nadpis a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/>
          <p:nvPr>
            <p:ph type="title"/>
          </p:nvPr>
        </p:nvSpPr>
        <p:spPr>
          <a:xfrm rot="5400000">
            <a:off x="6012656" y="771525"/>
            <a:ext cx="3290888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" type="body"/>
          </p:nvPr>
        </p:nvSpPr>
        <p:spPr>
          <a:xfrm rot="5400000">
            <a:off x="1821656" y="-1209675"/>
            <a:ext cx="3290888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bsah obrázku budova, obloha, město, Výšková budova&#10;&#10;Popis byl vytvořen automaticky"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0538"/>
            <a:ext cx="9180512" cy="512826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2571736" y="4011910"/>
            <a:ext cx="5816688" cy="93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Arial Black"/>
              <a:buNone/>
            </a:pPr>
            <a:r>
              <a:rPr b="0" i="0" lang="cs-CZ" sz="2200" u="none" cap="none" strike="noStrike">
                <a:solidFill>
                  <a:srgbClr val="C00000"/>
                </a:solidFill>
                <a:latin typeface="Arial Black"/>
                <a:ea typeface="Arial Black"/>
                <a:cs typeface="Arial Black"/>
                <a:sym typeface="Arial Black"/>
              </a:rPr>
              <a:t>AI asistent multidisciplinárního týmu</a:t>
            </a:r>
            <a:br>
              <a:rPr b="0" i="0" lang="cs-CZ" sz="2200" u="none" cap="none" strike="noStrike">
                <a:solidFill>
                  <a:srgbClr val="C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cs-CZ" sz="1800" u="none" cap="none" strike="noStrike">
                <a:solidFill>
                  <a:srgbClr val="006BAB"/>
                </a:solidFill>
                <a:latin typeface="Arial Black"/>
                <a:ea typeface="Arial Black"/>
                <a:cs typeface="Arial Black"/>
                <a:sym typeface="Arial Black"/>
              </a:rPr>
              <a:t>doc. MUDr. Ing. Jakub Cvek, Ph.D., MBA</a:t>
            </a:r>
            <a:endParaRPr b="0" i="0" sz="2200" u="none" cap="none" strike="noStrike">
              <a:solidFill>
                <a:srgbClr val="006BAB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descr="FNO_Logo.emf" id="91" name="Google Shape;9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2910" y="4011910"/>
            <a:ext cx="1857388" cy="752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F8FB"/>
            </a:gs>
            <a:gs pos="55000">
              <a:srgbClr val="F4F8FB"/>
            </a:gs>
            <a:gs pos="93000">
              <a:srgbClr val="AEC5E1"/>
            </a:gs>
            <a:gs pos="94000">
              <a:srgbClr val="AEC5E1"/>
            </a:gs>
            <a:gs pos="100000">
              <a:srgbClr val="C8D8EB"/>
            </a:gs>
          </a:gsLst>
          <a:lin ang="5400000" scaled="0"/>
        </a:gra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b="1" lang="cs-CZ">
                <a:solidFill>
                  <a:srgbClr val="0070C0"/>
                </a:solidFill>
              </a:rPr>
              <a:t>AI asistent MDT</a:t>
            </a:r>
            <a:endParaRPr/>
          </a:p>
        </p:txBody>
      </p:sp>
      <p:sp>
        <p:nvSpPr>
          <p:cNvPr id="97" name="Google Shape;97;p2"/>
          <p:cNvSpPr txBox="1"/>
          <p:nvPr>
            <p:ph idx="1" type="body"/>
          </p:nvPr>
        </p:nvSpPr>
        <p:spPr>
          <a:xfrm>
            <a:off x="323528" y="1200151"/>
            <a:ext cx="8363272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cs-CZ"/>
              <a:t>Od množství zdravotnických dat k přehlednému obrazu pacienta</a:t>
            </a:r>
            <a:endParaRPr/>
          </a:p>
          <a:p>
            <a:pPr indent="-342900" lvl="0" marL="34290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cs-CZ"/>
              <a:t>Před jednáním multidisciplinárního (MDT) onkologického týmu je potřeba spojit informace z různých zdrojů:</a:t>
            </a:r>
            <a:endParaRPr/>
          </a:p>
          <a:p>
            <a:pPr indent="0" lvl="0" marL="0" rtl="0" algn="just">
              <a:spcBef>
                <a:spcPts val="1800"/>
              </a:spcBef>
              <a:spcAft>
                <a:spcPts val="0"/>
              </a:spcAft>
              <a:buClr>
                <a:srgbClr val="006BAB"/>
              </a:buClr>
              <a:buSzPct val="100000"/>
              <a:buNone/>
            </a:pPr>
            <a:r>
              <a:rPr b="1" lang="cs-CZ">
                <a:solidFill>
                  <a:srgbClr val="006BAB"/>
                </a:solidFill>
              </a:rPr>
              <a:t>diagnóza → vyšetření → laboratorní výsledky → zobrazovací nálezy → patologie → genetika → léčba → aktuální zdravotní stav</a:t>
            </a:r>
            <a:endParaRPr/>
          </a:p>
          <a:p>
            <a:pPr indent="0" lvl="0" marL="0" rtl="0" algn="just">
              <a:spcBef>
                <a:spcPts val="180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lang="cs-CZ">
                <a:solidFill>
                  <a:srgbClr val="FF0000"/>
                </a:solidFill>
              </a:rPr>
              <a:t>Problém:</a:t>
            </a:r>
            <a:endParaRPr/>
          </a:p>
          <a:p>
            <a:pPr indent="-342900" lvl="0" marL="342900" rtl="0" algn="just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Noto Sans Symbols"/>
              <a:buChar char="⮚"/>
            </a:pPr>
            <a:r>
              <a:rPr lang="cs-CZ">
                <a:solidFill>
                  <a:srgbClr val="FF0000"/>
                </a:solidFill>
              </a:rPr>
              <a:t>Informace existují. Jsou ale rozptýlené v různých systémech a jejich ruční dohledání zabírá čas.</a:t>
            </a:r>
            <a:endParaRPr/>
          </a:p>
          <a:p>
            <a:pPr indent="-342900" lvl="0" marL="342900" rtl="0" algn="just"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Noto Sans Symbols"/>
              <a:buChar char="⮚"/>
            </a:pPr>
            <a:r>
              <a:rPr lang="cs-CZ">
                <a:solidFill>
                  <a:srgbClr val="FF0000"/>
                </a:solidFill>
              </a:rPr>
              <a:t>Cílem výzvy je vytvořit AI asistenta, který před jednáním MDT automaticky připraví strukturované shrnutí případu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98" name="Google Shape;98;p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F8FB"/>
            </a:gs>
            <a:gs pos="55000">
              <a:srgbClr val="F4F8FB"/>
            </a:gs>
            <a:gs pos="93000">
              <a:srgbClr val="AEC5E1"/>
            </a:gs>
            <a:gs pos="94000">
              <a:srgbClr val="AEC5E1"/>
            </a:gs>
            <a:gs pos="100000">
              <a:srgbClr val="C8D8EB"/>
            </a:gs>
          </a:gsLst>
          <a:lin ang="5400000" scaled="0"/>
        </a:gra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Calibri"/>
              <a:buNone/>
            </a:pPr>
            <a:r>
              <a:rPr b="1" lang="cs-CZ" sz="3200">
                <a:solidFill>
                  <a:srgbClr val="0070C0"/>
                </a:solidFill>
              </a:rPr>
              <a:t>Jak příprava dat pacienta na MDT probíhá dnes?</a:t>
            </a:r>
            <a:endParaRPr/>
          </a:p>
        </p:txBody>
      </p:sp>
      <p:sp>
        <p:nvSpPr>
          <p:cNvPr id="104" name="Google Shape;104;p3"/>
          <p:cNvSpPr txBox="1"/>
          <p:nvPr>
            <p:ph idx="1" type="body"/>
          </p:nvPr>
        </p:nvSpPr>
        <p:spPr>
          <a:xfrm>
            <a:off x="457200" y="1200151"/>
            <a:ext cx="8229600" cy="36758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b="1" lang="cs-CZ" sz="2600"/>
              <a:t>Informace jsou rozdělené mezi více systémů:</a:t>
            </a:r>
            <a:endParaRPr/>
          </a:p>
          <a:p>
            <a:pPr indent="-285750" lvl="1" marL="74295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lang="cs-CZ" sz="2600"/>
              <a:t>NIS - </a:t>
            </a:r>
            <a:r>
              <a:rPr lang="cs-CZ" sz="2600"/>
              <a:t>zdravotnická dokumentace</a:t>
            </a:r>
            <a:endParaRPr/>
          </a:p>
          <a:p>
            <a:pPr indent="-285750" lvl="1" marL="742950" rtl="0" algn="just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lang="cs-CZ" sz="2600"/>
              <a:t>LIS - </a:t>
            </a:r>
            <a:r>
              <a:rPr lang="cs-CZ" sz="2600"/>
              <a:t>laboratorní výsledky</a:t>
            </a:r>
            <a:endParaRPr/>
          </a:p>
          <a:p>
            <a:pPr indent="-285750" lvl="1" marL="742950" rtl="0" algn="just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lang="cs-CZ" sz="2600"/>
              <a:t>PACS - </a:t>
            </a:r>
            <a:r>
              <a:rPr lang="cs-CZ" sz="2600"/>
              <a:t>zobrazovací vyšetření</a:t>
            </a:r>
            <a:endParaRPr/>
          </a:p>
          <a:p>
            <a:pPr indent="-285750" lvl="1" marL="742950" rtl="0" algn="just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lang="cs-CZ" sz="2600"/>
              <a:t>INTELIPAT- </a:t>
            </a:r>
            <a:r>
              <a:rPr lang="cs-CZ" sz="2600"/>
              <a:t>patologické nálezy</a:t>
            </a:r>
            <a:endParaRPr/>
          </a:p>
          <a:p>
            <a:pPr indent="-285750" lvl="1" marL="742950" rtl="0" algn="just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lang="cs-CZ" sz="2600"/>
              <a:t>Genetická laboratoř - </a:t>
            </a:r>
            <a:r>
              <a:rPr lang="cs-CZ" sz="2600"/>
              <a:t>genetické výsledky</a:t>
            </a:r>
            <a:endParaRPr/>
          </a:p>
          <a:p>
            <a:pPr indent="0" lvl="0" marL="0" rtl="0" algn="just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b="1" lang="cs-CZ" sz="2600"/>
              <a:t>LÉKAŘ nebo KOORDINÁTOR - </a:t>
            </a:r>
            <a:r>
              <a:rPr lang="cs-CZ" sz="2600"/>
              <a:t>ručně vyhledává, čte, porovnává a skládá informace do podkladů pro MDT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F8FB"/>
            </a:gs>
            <a:gs pos="55000">
              <a:srgbClr val="F4F8FB"/>
            </a:gs>
            <a:gs pos="93000">
              <a:srgbClr val="AEC5E1"/>
            </a:gs>
            <a:gs pos="94000">
              <a:srgbClr val="AEC5E1"/>
            </a:gs>
            <a:gs pos="100000">
              <a:srgbClr val="C8D8EB"/>
            </a:gs>
          </a:gsLst>
          <a:lin ang="5400000" scaled="0"/>
        </a:gra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b="1" lang="cs-CZ">
                <a:solidFill>
                  <a:srgbClr val="0070C0"/>
                </a:solidFill>
              </a:rPr>
              <a:t>Kde je hlavní problém?</a:t>
            </a:r>
            <a:endParaRPr/>
          </a:p>
        </p:txBody>
      </p:sp>
      <p:sp>
        <p:nvSpPr>
          <p:cNvPr id="111" name="Google Shape;111;p4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cs-CZ"/>
              <a:t>Dnes musí zdravotník informace:</a:t>
            </a:r>
            <a:endParaRPr/>
          </a:p>
          <a:p>
            <a:pPr indent="-342900" lvl="0" marL="342900" rtl="0" algn="just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cs-CZ"/>
              <a:t>NAJÍT </a:t>
            </a:r>
            <a:r>
              <a:rPr lang="cs-CZ"/>
              <a:t>v různých systémech</a:t>
            </a:r>
            <a:endParaRPr/>
          </a:p>
          <a:p>
            <a:pPr indent="-342900" lvl="0" marL="342900" rtl="0" algn="just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cs-CZ"/>
              <a:t>PŘEČÍST </a:t>
            </a:r>
            <a:r>
              <a:rPr lang="cs-CZ"/>
              <a:t>velké množství dokumentace</a:t>
            </a:r>
            <a:endParaRPr/>
          </a:p>
          <a:p>
            <a:pPr indent="-342900" lvl="0" marL="342900" rtl="0" algn="just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cs-CZ"/>
              <a:t>POSKLÁDAT </a:t>
            </a:r>
            <a:r>
              <a:rPr lang="cs-CZ"/>
              <a:t>informace z různých zdrojů</a:t>
            </a:r>
            <a:endParaRPr/>
          </a:p>
          <a:p>
            <a:pPr indent="-342900" lvl="0" marL="342900" rtl="0" algn="just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cs-CZ"/>
              <a:t>POROVNAT </a:t>
            </a:r>
            <a:r>
              <a:rPr lang="cs-CZ"/>
              <a:t>aktuální a předchozí výsledky</a:t>
            </a:r>
            <a:endParaRPr/>
          </a:p>
          <a:p>
            <a:pPr indent="-342900" lvl="0" marL="342900" rtl="0" algn="just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cs-CZ"/>
              <a:t>SEŘADIT </a:t>
            </a:r>
            <a:r>
              <a:rPr lang="cs-CZ"/>
              <a:t>diagnostiku a léčbu v čase</a:t>
            </a:r>
            <a:endParaRPr/>
          </a:p>
          <a:p>
            <a:pPr indent="-342900" lvl="0" marL="342900" rtl="0" algn="just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cs-CZ"/>
              <a:t>ZKONTROLOVAT </a:t>
            </a:r>
            <a:r>
              <a:rPr lang="cs-CZ"/>
              <a:t>zda něco důležitého nechybí</a:t>
            </a:r>
            <a:endParaRPr/>
          </a:p>
          <a:p>
            <a:pPr indent="-342900" lvl="0" marL="342900" rtl="0" algn="just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cs-CZ"/>
              <a:t>PARAMETRIZOVAT</a:t>
            </a:r>
            <a:endParaRPr/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cs-CZ">
                <a:solidFill>
                  <a:srgbClr val="FF0000"/>
                </a:solidFill>
              </a:rPr>
              <a:t>Výsledkem je:</a:t>
            </a:r>
            <a:endParaRPr/>
          </a:p>
          <a:p>
            <a:pPr indent="0" lvl="0" marL="0" rtl="0" algn="ctr">
              <a:spcBef>
                <a:spcPts val="352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cs-CZ">
                <a:solidFill>
                  <a:srgbClr val="FF0000"/>
                </a:solidFill>
              </a:rPr>
              <a:t>časová náročnost + administrativní zátěž + riziko přehlédnutí důležité informace</a:t>
            </a:r>
            <a:endParaRPr>
              <a:solidFill>
                <a:srgbClr val="FF0000"/>
              </a:solidFill>
            </a:endParaRPr>
          </a:p>
          <a:p>
            <a:pPr indent="-23114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/>
          <p:nvPr/>
        </p:nvSpPr>
        <p:spPr>
          <a:xfrm>
            <a:off x="1" y="0"/>
            <a:ext cx="9143771" cy="630936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377201" y="109725"/>
            <a:ext cx="71628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cs-CZ" sz="17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KONZULTACE PACIENTA | VZOR FORMULÁŘE PRO MDT TÝM</a:t>
            </a:r>
            <a:endParaRPr/>
          </a:p>
        </p:txBody>
      </p:sp>
      <p:sp>
        <p:nvSpPr>
          <p:cNvPr id="119" name="Google Shape;119;p5"/>
          <p:cNvSpPr txBox="1"/>
          <p:nvPr/>
        </p:nvSpPr>
        <p:spPr>
          <a:xfrm>
            <a:off x="445770" y="706374"/>
            <a:ext cx="325602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cs-CZ" sz="900" u="none" cap="none" strike="noStrike">
                <a:solidFill>
                  <a:srgbClr val="556575"/>
                </a:solidFill>
                <a:latin typeface="Arial"/>
                <a:ea typeface="Arial"/>
                <a:cs typeface="Arial"/>
                <a:sym typeface="Arial"/>
              </a:rPr>
              <a:t>Pracovní návrh vycházející ze struktury MDT protokolu FNO</a:t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377190" y="1062990"/>
            <a:ext cx="4080510" cy="106299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0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 txBox="1"/>
          <p:nvPr/>
        </p:nvSpPr>
        <p:spPr>
          <a:xfrm>
            <a:off x="500634" y="1131570"/>
            <a:ext cx="1763624" cy="265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cs-CZ" sz="1125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1  Identifikace pacienta</a:t>
            </a:r>
            <a:endParaRPr/>
          </a:p>
        </p:txBody>
      </p:sp>
      <p:sp>
        <p:nvSpPr>
          <p:cNvPr id="122" name="Google Shape;122;p5"/>
          <p:cNvSpPr txBox="1"/>
          <p:nvPr/>
        </p:nvSpPr>
        <p:spPr>
          <a:xfrm>
            <a:off x="500634" y="1405890"/>
            <a:ext cx="3833622" cy="365228"/>
          </a:xfrm>
          <a:prstGeom prst="rect">
            <a:avLst/>
          </a:prstGeom>
          <a:noFill/>
          <a:ln>
            <a:noFill/>
          </a:ln>
        </p:spPr>
        <p:txBody>
          <a:bodyPr anchorCtr="0" anchor="t" bIns="6850" lIns="13700" spcFirstLastPara="1" rIns="13700" wrap="square" tIns="6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cs-CZ" sz="975" u="none" cap="none" strike="noStrike">
                <a:solidFill>
                  <a:srgbClr val="2B3642"/>
                </a:solidFill>
                <a:latin typeface="Arial"/>
                <a:ea typeface="Arial"/>
                <a:cs typeface="Arial"/>
                <a:sym typeface="Arial"/>
              </a:rPr>
              <a:t>Jméno a příjmení (*)</a:t>
            </a:r>
            <a:endParaRPr/>
          </a:p>
          <a:p>
            <a:pPr indent="0" lvl="0" marL="0" marR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i="0" lang="cs-CZ" sz="975" u="none" cap="none" strike="noStrike">
                <a:solidFill>
                  <a:srgbClr val="2B3642"/>
                </a:solidFill>
                <a:latin typeface="Arial"/>
                <a:ea typeface="Arial"/>
                <a:cs typeface="Arial"/>
                <a:sym typeface="Arial"/>
              </a:rPr>
              <a:t>Rodné číslo (*)  •  Pojišťovna (*)</a:t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4649724" y="1062990"/>
            <a:ext cx="4101084" cy="106299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0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4773168" y="1131570"/>
            <a:ext cx="1915909" cy="265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cs-CZ" sz="1125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2  Informace o pacientovi</a:t>
            </a:r>
            <a:endParaRPr/>
          </a:p>
        </p:txBody>
      </p:sp>
      <p:sp>
        <p:nvSpPr>
          <p:cNvPr id="125" name="Google Shape;125;p5"/>
          <p:cNvSpPr txBox="1"/>
          <p:nvPr/>
        </p:nvSpPr>
        <p:spPr>
          <a:xfrm>
            <a:off x="4773168" y="1405890"/>
            <a:ext cx="3854196" cy="365228"/>
          </a:xfrm>
          <a:prstGeom prst="rect">
            <a:avLst/>
          </a:prstGeom>
          <a:noFill/>
          <a:ln>
            <a:noFill/>
          </a:ln>
        </p:spPr>
        <p:txBody>
          <a:bodyPr anchorCtr="0" anchor="t" bIns="6850" lIns="13700" spcFirstLastPara="1" rIns="13700" wrap="square" tIns="6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cs-CZ" sz="975" u="none" cap="none" strike="noStrike">
                <a:solidFill>
                  <a:srgbClr val="2B3642"/>
                </a:solidFill>
                <a:latin typeface="Arial"/>
                <a:ea typeface="Arial"/>
                <a:cs typeface="Arial"/>
                <a:sym typeface="Arial"/>
              </a:rPr>
              <a:t>Anamnéza (*)</a:t>
            </a:r>
            <a:endParaRPr/>
          </a:p>
          <a:p>
            <a:pPr indent="0" lvl="0" marL="0" marR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i="0" lang="cs-CZ" sz="975" u="none" cap="none" strike="noStrike">
                <a:solidFill>
                  <a:srgbClr val="2B3642"/>
                </a:solidFill>
                <a:latin typeface="Arial"/>
                <a:ea typeface="Arial"/>
                <a:cs typeface="Arial"/>
                <a:sym typeface="Arial"/>
              </a:rPr>
              <a:t>Zobrazovací vyšetření (*)  •  Aktuální klinický stav (*)</a:t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377190" y="2276856"/>
            <a:ext cx="4080510" cy="106299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0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500634" y="2345436"/>
            <a:ext cx="1491114" cy="265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cs-CZ" sz="1125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3  Odesílatel / lékař</a:t>
            </a:r>
            <a:endParaRPr/>
          </a:p>
        </p:txBody>
      </p:sp>
      <p:sp>
        <p:nvSpPr>
          <p:cNvPr id="128" name="Google Shape;128;p5"/>
          <p:cNvSpPr txBox="1"/>
          <p:nvPr/>
        </p:nvSpPr>
        <p:spPr>
          <a:xfrm>
            <a:off x="500634" y="2619756"/>
            <a:ext cx="3833622" cy="342145"/>
          </a:xfrm>
          <a:prstGeom prst="rect">
            <a:avLst/>
          </a:prstGeom>
          <a:noFill/>
          <a:ln>
            <a:noFill/>
          </a:ln>
        </p:spPr>
        <p:txBody>
          <a:bodyPr anchorCtr="0" anchor="t" bIns="6850" lIns="13700" spcFirstLastPara="1" rIns="13700" wrap="square" tIns="6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cs-CZ" sz="900" u="none" cap="none" strike="noStrike">
                <a:solidFill>
                  <a:srgbClr val="2B3642"/>
                </a:solidFill>
                <a:latin typeface="Arial"/>
                <a:ea typeface="Arial"/>
                <a:cs typeface="Arial"/>
                <a:sym typeface="Arial"/>
              </a:rPr>
              <a:t>Jméno lékaře (*)  •  Odesílající pracoviště (*)</a:t>
            </a:r>
            <a:endParaRPr/>
          </a:p>
          <a:p>
            <a:pPr indent="0" lvl="0" marL="0" marR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i="0" lang="cs-CZ" sz="900" u="none" cap="none" strike="noStrike">
                <a:solidFill>
                  <a:srgbClr val="2B3642"/>
                </a:solidFill>
                <a:latin typeface="Arial"/>
                <a:ea typeface="Arial"/>
                <a:cs typeface="Arial"/>
                <a:sym typeface="Arial"/>
              </a:rPr>
              <a:t>Kontaktní e-mail (*)  •  Kontaktní telefon (*)</a:t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4649724" y="2276856"/>
            <a:ext cx="4101084" cy="106299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0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 txBox="1"/>
          <p:nvPr/>
        </p:nvSpPr>
        <p:spPr>
          <a:xfrm>
            <a:off x="4773169" y="2345436"/>
            <a:ext cx="833883" cy="265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cs-CZ" sz="1125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4  Příloha</a:t>
            </a:r>
            <a:endParaRPr/>
          </a:p>
        </p:txBody>
      </p:sp>
      <p:sp>
        <p:nvSpPr>
          <p:cNvPr id="131" name="Google Shape;131;p5"/>
          <p:cNvSpPr txBox="1"/>
          <p:nvPr/>
        </p:nvSpPr>
        <p:spPr>
          <a:xfrm>
            <a:off x="4773168" y="2619756"/>
            <a:ext cx="3854196" cy="342145"/>
          </a:xfrm>
          <a:prstGeom prst="rect">
            <a:avLst/>
          </a:prstGeom>
          <a:noFill/>
          <a:ln>
            <a:noFill/>
          </a:ln>
        </p:spPr>
        <p:txBody>
          <a:bodyPr anchorCtr="0" anchor="t" bIns="6850" lIns="13700" spcFirstLastPara="1" rIns="13700" wrap="square" tIns="6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cs-CZ" sz="900" u="none" cap="none" strike="noStrike">
                <a:solidFill>
                  <a:srgbClr val="2B3642"/>
                </a:solidFill>
                <a:latin typeface="Arial"/>
                <a:ea typeface="Arial"/>
                <a:cs typeface="Arial"/>
                <a:sym typeface="Arial"/>
              </a:rPr>
              <a:t>Povolené formáty: PDF, DOCX, DOC, ZIP, XLS, XLSX, ODT</a:t>
            </a:r>
            <a:endParaRPr/>
          </a:p>
          <a:p>
            <a:pPr indent="0" lvl="0" marL="0" marR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i="0" lang="cs-CZ" sz="900" u="none" cap="none" strike="noStrike">
                <a:solidFill>
                  <a:srgbClr val="2B3642"/>
                </a:solidFill>
                <a:latin typeface="Arial"/>
                <a:ea typeface="Arial"/>
                <a:cs typeface="Arial"/>
                <a:sym typeface="Arial"/>
              </a:rPr>
              <a:t>Maximální velikost souborů: 20 MB</a:t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377190" y="3490722"/>
            <a:ext cx="4080510" cy="76809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0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 txBox="1"/>
          <p:nvPr/>
        </p:nvSpPr>
        <p:spPr>
          <a:xfrm>
            <a:off x="500634" y="3559302"/>
            <a:ext cx="1499128" cy="265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cs-CZ" sz="1125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5  Otázka na NOCO</a:t>
            </a:r>
            <a:endParaRPr/>
          </a:p>
        </p:txBody>
      </p:sp>
      <p:sp>
        <p:nvSpPr>
          <p:cNvPr id="134" name="Google Shape;134;p5"/>
          <p:cNvSpPr txBox="1"/>
          <p:nvPr/>
        </p:nvSpPr>
        <p:spPr>
          <a:xfrm>
            <a:off x="500634" y="3833622"/>
            <a:ext cx="3833622" cy="163891"/>
          </a:xfrm>
          <a:prstGeom prst="rect">
            <a:avLst/>
          </a:prstGeom>
          <a:noFill/>
          <a:ln>
            <a:noFill/>
          </a:ln>
        </p:spPr>
        <p:txBody>
          <a:bodyPr anchorCtr="0" anchor="t" bIns="6850" lIns="13700" spcFirstLastPara="1" rIns="13700" wrap="square" tIns="6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cs-CZ" sz="975" u="none" cap="none" strike="noStrike">
                <a:solidFill>
                  <a:srgbClr val="2B3642"/>
                </a:solidFill>
                <a:latin typeface="Arial"/>
                <a:ea typeface="Arial"/>
                <a:cs typeface="Arial"/>
                <a:sym typeface="Arial"/>
              </a:rPr>
              <a:t>Otázka / požadavek</a:t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4649724" y="3490722"/>
            <a:ext cx="4101084" cy="76809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0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 txBox="1"/>
          <p:nvPr/>
        </p:nvSpPr>
        <p:spPr>
          <a:xfrm>
            <a:off x="4773168" y="3559302"/>
            <a:ext cx="2452916" cy="265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cs-CZ" sz="1125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6  Souhlas se zpracováním údajů</a:t>
            </a:r>
            <a:endParaRPr/>
          </a:p>
        </p:txBody>
      </p:sp>
      <p:sp>
        <p:nvSpPr>
          <p:cNvPr id="137" name="Google Shape;137;p5"/>
          <p:cNvSpPr txBox="1"/>
          <p:nvPr/>
        </p:nvSpPr>
        <p:spPr>
          <a:xfrm>
            <a:off x="4773168" y="3833622"/>
            <a:ext cx="3854196" cy="267766"/>
          </a:xfrm>
          <a:prstGeom prst="rect">
            <a:avLst/>
          </a:prstGeom>
          <a:noFill/>
          <a:ln>
            <a:noFill/>
          </a:ln>
        </p:spPr>
        <p:txBody>
          <a:bodyPr anchorCtr="0" anchor="t" bIns="6850" lIns="13700" spcFirstLastPara="1" rIns="13700" wrap="square" tIns="6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cs-CZ" sz="825" u="none" cap="none" strike="noStrike">
                <a:solidFill>
                  <a:srgbClr val="2B3642"/>
                </a:solidFill>
                <a:latin typeface="Arial"/>
                <a:ea typeface="Arial"/>
                <a:cs typeface="Arial"/>
                <a:sym typeface="Arial"/>
              </a:rPr>
              <a:t>☐ Souhlasím, aby FNO použila uvedené osobní údaje ke zpracování požadavku dle GDPR.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F8FB"/>
            </a:gs>
            <a:gs pos="55000">
              <a:srgbClr val="F4F8FB"/>
            </a:gs>
            <a:gs pos="93000">
              <a:srgbClr val="AEC5E1"/>
            </a:gs>
            <a:gs pos="94000">
              <a:srgbClr val="AEC5E1"/>
            </a:gs>
            <a:gs pos="100000">
              <a:srgbClr val="C8D8EB"/>
            </a:gs>
          </a:gsLst>
          <a:lin ang="5400000" scaled="0"/>
        </a:gra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b="1" lang="cs-CZ">
                <a:solidFill>
                  <a:srgbClr val="0070C0"/>
                </a:solidFill>
              </a:rPr>
              <a:t>Co by měl AI asistent MDT udělat?</a:t>
            </a:r>
            <a:endParaRPr/>
          </a:p>
        </p:txBody>
      </p:sp>
      <p:sp>
        <p:nvSpPr>
          <p:cNvPr id="143" name="Google Shape;143;p6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cs-CZ"/>
              <a:t>Z množství dat vytvořit strukturovaný obraz pacienta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cs-CZ"/>
              <a:t>VSTUP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✔"/>
            </a:pPr>
            <a:r>
              <a:rPr lang="cs-CZ"/>
              <a:t>Lékařské zprávy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✔"/>
            </a:pPr>
            <a:r>
              <a:rPr lang="cs-CZ"/>
              <a:t>Laboratorní výsledky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✔"/>
            </a:pPr>
            <a:r>
              <a:rPr lang="cs-CZ"/>
              <a:t>Popisy zobrazovacích metod 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✔"/>
            </a:pPr>
            <a:r>
              <a:rPr lang="cs-CZ"/>
              <a:t>Patologie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✔"/>
            </a:pPr>
            <a:r>
              <a:rPr lang="cs-CZ"/>
              <a:t>Genetika</a:t>
            </a:r>
            <a:endParaRPr/>
          </a:p>
          <a:p>
            <a:pPr indent="0" lvl="0" marL="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F8FB"/>
            </a:gs>
            <a:gs pos="55000">
              <a:srgbClr val="F4F8FB"/>
            </a:gs>
            <a:gs pos="93000">
              <a:srgbClr val="AEC5E1"/>
            </a:gs>
            <a:gs pos="94000">
              <a:srgbClr val="AEC5E1"/>
            </a:gs>
            <a:gs pos="100000">
              <a:srgbClr val="C8D8EB"/>
            </a:gs>
          </a:gsLst>
          <a:lin ang="5400000" scaled="0"/>
        </a:gra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 txBox="1"/>
          <p:nvPr>
            <p:ph type="title"/>
          </p:nvPr>
        </p:nvSpPr>
        <p:spPr>
          <a:xfrm>
            <a:off x="457200" y="205979"/>
            <a:ext cx="8363272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400"/>
              <a:buFont typeface="Calibri"/>
              <a:buNone/>
            </a:pPr>
            <a:r>
              <a:rPr b="1" lang="cs-CZ" sz="3400">
                <a:solidFill>
                  <a:srgbClr val="0070C0"/>
                </a:solidFill>
              </a:rPr>
              <a:t>Jak má vypadat výstup AI asistenta MDT?</a:t>
            </a:r>
            <a:endParaRPr/>
          </a:p>
        </p:txBody>
      </p:sp>
      <p:sp>
        <p:nvSpPr>
          <p:cNvPr id="151" name="Google Shape;151;p7"/>
          <p:cNvSpPr txBox="1"/>
          <p:nvPr>
            <p:ph idx="1" type="body"/>
          </p:nvPr>
        </p:nvSpPr>
        <p:spPr>
          <a:xfrm>
            <a:off x="457200" y="1200151"/>
            <a:ext cx="8229600" cy="3737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cs-CZ" sz="2000"/>
              <a:t>Měly by být vytvořeny dva výstupy: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graphicFrame>
        <p:nvGraphicFramePr>
          <p:cNvPr id="152" name="Google Shape;152;p7"/>
          <p:cNvGraphicFramePr/>
          <p:nvPr/>
        </p:nvGraphicFramePr>
        <p:xfrm>
          <a:off x="683568" y="169723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{2438C82D-D014-4FBB-94E1-C4F7EDEC0CBB}</a:tableStyleId>
              </a:tblPr>
              <a:tblGrid>
                <a:gridCol w="3888425"/>
                <a:gridCol w="38884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cs-CZ" sz="1800" u="none" cap="none" strike="noStrike"/>
                        <a:t>PREZENTAČNÍ APLIKACE pro MDT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cs-CZ" sz="1800" u="none" cap="none" strike="noStrike"/>
                        <a:t>REPORT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cs-CZ" sz="1400" u="none" cap="none" strike="noStrike"/>
                        <a:t>Interaktivní schématický přehled pacienta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cs-CZ" sz="1400" u="none" cap="none" strike="noStrike"/>
                        <a:t>Výstup pro zdravotnickou dokumentaci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cs-CZ" sz="1400" u="none" cap="none" strike="noStrike"/>
                        <a:t>Stručné shrnutí případu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cs-CZ" sz="1400" u="none" cap="none" strike="noStrike"/>
                        <a:t>Vytvoření žádosti k dalšímu vyšetření/léčbě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cs-CZ" sz="1400" u="none" cap="none" strike="noStrike"/>
                        <a:t>Rozklikávací informace (klinický nález, histologie, …)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cs-CZ" sz="1400" u="none" cap="none" strike="noStrike"/>
                        <a:t>Informace vybrané v prezentační aplikaci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cs-CZ" sz="1400" u="none" cap="none" strike="noStrike"/>
                        <a:t>Možnost zobrazení časové osy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cs-CZ" sz="1400" u="none" cap="none" strike="noStrike"/>
                        <a:t>Automaticky vytvořený PDF dokument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cs-CZ" sz="1400" u="none" cap="none" strike="noStrike"/>
                        <a:t>Proklik pro detailnější informace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cs-CZ" sz="1400"/>
                        <a:t>→ slouží pro prezentaci a diskusi případu na MDT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cs-CZ" sz="1400"/>
                        <a:t>→ pro zdravotnickou dokumentaci nebo další vyšetření či léčbu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53" name="Google Shape;153;p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F8FB"/>
            </a:gs>
            <a:gs pos="55000">
              <a:srgbClr val="F4F8FB"/>
            </a:gs>
            <a:gs pos="93000">
              <a:srgbClr val="AEC5E1"/>
            </a:gs>
            <a:gs pos="94000">
              <a:srgbClr val="AEC5E1"/>
            </a:gs>
            <a:gs pos="100000">
              <a:srgbClr val="C8D8EB"/>
            </a:gs>
          </a:gsLst>
          <a:lin ang="5400000" scaled="0"/>
        </a:gra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 txBox="1"/>
          <p:nvPr>
            <p:ph type="title"/>
          </p:nvPr>
        </p:nvSpPr>
        <p:spPr>
          <a:xfrm>
            <a:off x="457200" y="205979"/>
            <a:ext cx="8363272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400"/>
              <a:buFont typeface="Calibri"/>
              <a:buNone/>
            </a:pPr>
            <a:r>
              <a:rPr b="1" lang="cs-CZ" sz="3400">
                <a:solidFill>
                  <a:srgbClr val="0070C0"/>
                </a:solidFill>
              </a:rPr>
              <a:t>Poskytnutá data</a:t>
            </a:r>
            <a:endParaRPr/>
          </a:p>
        </p:txBody>
      </p:sp>
      <p:sp>
        <p:nvSpPr>
          <p:cNvPr id="160" name="Google Shape;160;p8"/>
          <p:cNvSpPr txBox="1"/>
          <p:nvPr>
            <p:ph idx="1" type="body"/>
          </p:nvPr>
        </p:nvSpPr>
        <p:spPr>
          <a:xfrm>
            <a:off x="457200" y="1200151"/>
            <a:ext cx="8229600" cy="3737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lang="cs-CZ"/>
              <a:t> Ukázka zdravotnické dokumentace fiktivních pacientů obsahující vzorové onkologické případy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lang="cs-CZ"/>
              <a:t> Struktura MDT protokolu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F8FB"/>
            </a:gs>
            <a:gs pos="55000">
              <a:srgbClr val="F4F8FB"/>
            </a:gs>
            <a:gs pos="93000">
              <a:srgbClr val="AEC5E1"/>
            </a:gs>
            <a:gs pos="94000">
              <a:srgbClr val="AEC5E1"/>
            </a:gs>
            <a:gs pos="100000">
              <a:srgbClr val="C8D8EB"/>
            </a:gs>
          </a:gsLst>
          <a:lin ang="5400000" scaled="0"/>
        </a:gra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 txBox="1"/>
          <p:nvPr>
            <p:ph type="title"/>
          </p:nvPr>
        </p:nvSpPr>
        <p:spPr>
          <a:xfrm>
            <a:off x="457200" y="205979"/>
            <a:ext cx="8363272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400"/>
              <a:buFont typeface="Calibri"/>
              <a:buNone/>
            </a:pPr>
            <a:r>
              <a:rPr b="1" lang="cs-CZ" sz="3400">
                <a:solidFill>
                  <a:srgbClr val="0070C0"/>
                </a:solidFill>
              </a:rPr>
              <a:t>Co očekáváme od řešení?</a:t>
            </a:r>
            <a:endParaRPr/>
          </a:p>
        </p:txBody>
      </p:sp>
      <p:sp>
        <p:nvSpPr>
          <p:cNvPr id="167" name="Google Shape;167;p9"/>
          <p:cNvSpPr txBox="1"/>
          <p:nvPr>
            <p:ph idx="1" type="body"/>
          </p:nvPr>
        </p:nvSpPr>
        <p:spPr>
          <a:xfrm>
            <a:off x="179512" y="987574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cs-CZ" sz="2400"/>
              <a:t>Nechceme další systém, ve kterém bude lékař hledat informace.</a:t>
            </a:r>
            <a:endParaRPr/>
          </a:p>
          <a:p>
            <a:pPr indent="-342900" lvl="0" marL="342900" rtl="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cs-CZ" sz="2400"/>
              <a:t>Chceme nástroj, který informace najde, uspořádá a připraví k rozhodnutí.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  <p:pic>
        <p:nvPicPr>
          <p:cNvPr id="169" name="Google Shape;16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3768" y="2595638"/>
            <a:ext cx="3858617" cy="217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NO_PPT2.jpg" id="174" name="Google Shape;17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0"/>
          <p:cNvSpPr txBox="1"/>
          <p:nvPr/>
        </p:nvSpPr>
        <p:spPr>
          <a:xfrm>
            <a:off x="857224" y="2714626"/>
            <a:ext cx="7500990" cy="1928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cs-CZ" sz="2200" u="none" cap="none" strike="noStrike">
                <a:solidFill>
                  <a:srgbClr val="006BAB"/>
                </a:solidFill>
                <a:latin typeface="Arial Black"/>
                <a:ea typeface="Arial Black"/>
                <a:cs typeface="Arial Black"/>
                <a:sym typeface="Arial Black"/>
              </a:rPr>
              <a:t>KLINIKA ONKOLOGICKÁ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cs-CZ" sz="1400" u="none" cap="none" strike="noStrike">
                <a:solidFill>
                  <a:srgbClr val="006BAB"/>
                </a:solidFill>
                <a:latin typeface="Arial Black"/>
                <a:ea typeface="Arial Black"/>
                <a:cs typeface="Arial Black"/>
                <a:sym typeface="Arial Black"/>
              </a:rPr>
              <a:t>doc. MUDr. Ing. Jakub Cvek, Ph.D., MBA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cs-CZ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Fakultní nemocnice Ostrava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cs-CZ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17. listopadu 1790/5, 708 52 Ostrava – Poruba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6BAB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descr="FNO_Logo.emf" id="176" name="Google Shape;17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71868" y="1714494"/>
            <a:ext cx="1857388" cy="752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tiv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tiv sady Office">
  <a:themeElements>
    <a:clrScheme name="Kancelář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2021-05-23T16:54:17Z</dcterms:created>
  <dc:creator>Uživatel systému Windows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0x010100B80CC82A63EF1840A66600E9F349A927</vt:lpwstr>
  </property>
  <property fmtid="{D5CDD505-2E9C-101B-9397-08002B2CF9AE}" pid="3" name="_dlc_DocIdItemGuid">
    <vt:lpwstr>ea27cf9b-98e1-41c9-8875-ec878db62f1d</vt:lpwstr>
  </property>
</Properties>
</file>